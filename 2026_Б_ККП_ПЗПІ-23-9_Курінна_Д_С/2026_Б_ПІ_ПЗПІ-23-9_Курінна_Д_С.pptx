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C8"/>
    <a:srgbClr val="0985B5"/>
    <a:srgbClr val="CCA6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3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803665ED-DEE5-5264-B5F4-F2F2220B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7E0111CF-59D3-00DB-D315-A6810D237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6AA4FA89-4082-AF0B-8275-B117D74B6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99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68182" y="2048624"/>
            <a:ext cx="4064154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 dirty="0"/>
              <a:t>Інформаційна система управління внутрішніми корпоративними заходами підприємства 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655287" y="361080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Курінна Дар</a:t>
            </a:r>
            <a:r>
              <a:rPr lang="en-US" dirty="0"/>
              <a:t>’</a:t>
            </a:r>
            <a:r>
              <a:rPr lang="ru-RU" dirty="0"/>
              <a:t>я Серг</a:t>
            </a:r>
            <a:r>
              <a:rPr lang="uk-UA" dirty="0"/>
              <a:t>іївна ПЗПІ-23-9</a:t>
            </a:r>
            <a:endParaRPr dirty="0"/>
          </a:p>
          <a:p>
            <a:pPr marL="0" lvl="0" indent="0" algn="l"/>
            <a:r>
              <a:rPr lang="uk" dirty="0"/>
              <a:t>Керівник:  </a:t>
            </a:r>
            <a:r>
              <a:rPr lang="uk-UA" dirty="0"/>
              <a:t>доц. кафедри ПІ Ірина Афанасьєва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4 червня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406237"/>
            <a:ext cx="8520600" cy="25195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ru-RU" dirty="0"/>
              <a:t>Розробка </a:t>
            </a:r>
            <a:r>
              <a:rPr lang="ru-RU" dirty="0" err="1"/>
              <a:t>вебсистеми</a:t>
            </a:r>
            <a:r>
              <a:rPr lang="ru-RU" dirty="0"/>
              <a:t> для </a:t>
            </a:r>
            <a:r>
              <a:rPr lang="ru-RU" dirty="0" err="1"/>
              <a:t>автоматизації</a:t>
            </a:r>
            <a:r>
              <a:rPr lang="ru-RU" dirty="0"/>
              <a:t> </a:t>
            </a:r>
            <a:r>
              <a:rPr lang="ru-RU" dirty="0" err="1"/>
              <a:t>організації</a:t>
            </a:r>
            <a:r>
              <a:rPr lang="ru-RU" dirty="0"/>
              <a:t> </a:t>
            </a:r>
            <a:r>
              <a:rPr lang="ru-RU" dirty="0" err="1"/>
              <a:t>корпоративних</a:t>
            </a:r>
            <a:r>
              <a:rPr lang="ru-RU" dirty="0"/>
              <a:t> </a:t>
            </a:r>
            <a:r>
              <a:rPr lang="ru-RU" dirty="0" err="1"/>
              <a:t>заходів</a:t>
            </a:r>
            <a:r>
              <a:rPr lang="ru-RU" dirty="0"/>
              <a:t> –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 до </a:t>
            </a:r>
            <a:r>
              <a:rPr lang="ru-RU" dirty="0" err="1"/>
              <a:t>аналізу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Наявні інструменти (</a:t>
            </a:r>
            <a:r>
              <a:rPr lang="en-US" dirty="0"/>
              <a:t>Teams</a:t>
            </a:r>
            <a:r>
              <a:rPr lang="ru-RU" dirty="0"/>
              <a:t>, </a:t>
            </a:r>
            <a:r>
              <a:rPr lang="en-US" dirty="0"/>
              <a:t>Calendar, Notion, Eventbrite) </a:t>
            </a:r>
            <a:r>
              <a:rPr lang="uk-UA" dirty="0"/>
              <a:t>вирішують задачі лише частково – жоден не поєднує реєстрацію, сповіщення, звіти та аналітику в єдиному середовищі.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F16453FB-0343-5281-92AF-31076C12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97F83E6-26DF-25B5-5664-EF348CA47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3E261B68-AEE2-43B8-E60C-F57EF006B4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8C1A72-EBE2-DF0C-6ADF-E78C2730611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4A4736EB-A15C-0333-ACAF-E0A57DA7F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16990"/>
              </p:ext>
            </p:extLst>
          </p:nvPr>
        </p:nvGraphicFramePr>
        <p:xfrm>
          <a:off x="311700" y="785425"/>
          <a:ext cx="8509315" cy="3420537"/>
        </p:xfrm>
        <a:graphic>
          <a:graphicData uri="http://schemas.openxmlformats.org/drawingml/2006/table">
            <a:tbl>
              <a:tblPr/>
              <a:tblGrid>
                <a:gridCol w="2273554">
                  <a:extLst>
                    <a:ext uri="{9D8B030D-6E8A-4147-A177-3AD203B41FA5}">
                      <a16:colId xmlns:a16="http://schemas.microsoft.com/office/drawing/2014/main" val="116972272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637515589"/>
                    </a:ext>
                  </a:extLst>
                </a:gridCol>
                <a:gridCol w="1694688">
                  <a:extLst>
                    <a:ext uri="{9D8B030D-6E8A-4147-A177-3AD203B41FA5}">
                      <a16:colId xmlns:a16="http://schemas.microsoft.com/office/drawing/2014/main" val="2353267456"/>
                    </a:ext>
                  </a:extLst>
                </a:gridCol>
                <a:gridCol w="1816608">
                  <a:extLst>
                    <a:ext uri="{9D8B030D-6E8A-4147-A177-3AD203B41FA5}">
                      <a16:colId xmlns:a16="http://schemas.microsoft.com/office/drawing/2014/main" val="1376092979"/>
                    </a:ext>
                  </a:extLst>
                </a:gridCol>
                <a:gridCol w="1261425">
                  <a:extLst>
                    <a:ext uri="{9D8B030D-6E8A-4147-A177-3AD203B41FA5}">
                      <a16:colId xmlns:a16="http://schemas.microsoft.com/office/drawing/2014/main" val="2597097249"/>
                    </a:ext>
                  </a:extLst>
                </a:gridCol>
              </a:tblGrid>
              <a:tr h="58465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Функціональна можливість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Microsoft </a:t>
                      </a:r>
                      <a:r>
                        <a:rPr lang="uk-UA" sz="1400" kern="1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Teams</a:t>
                      </a:r>
                      <a:endParaRPr lang="uk-UA" sz="1400" kern="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 Calendar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Notion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Eventbrite</a:t>
                      </a:r>
                      <a:endParaRPr lang="uk-UA" sz="1400" kern="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31560"/>
                  </a:ext>
                </a:extLst>
              </a:tr>
              <a:tr h="441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Створення подій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778891"/>
                  </a:ext>
                </a:extLst>
              </a:tr>
              <a:tr h="441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Реєстрація учасників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частково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578923"/>
                  </a:ext>
                </a:extLst>
              </a:tr>
              <a:tr h="58465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Контроль кількості учасників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377306"/>
                  </a:ext>
                </a:extLst>
              </a:tr>
              <a:tr h="441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Аналітика та звітність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частково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971603"/>
                  </a:ext>
                </a:extLst>
              </a:tr>
              <a:tr h="441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Централізація даних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частково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частково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частково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301069"/>
                  </a:ext>
                </a:extLst>
              </a:tr>
              <a:tr h="441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Збір зворотного зв'язку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kern="1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</a:t>
                      </a:r>
                    </a:p>
                  </a:txBody>
                  <a:tcPr marL="37546" marR="375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2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91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48602"/>
            <a:ext cx="8520600" cy="3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Основні задачі: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>
                <a:highlight>
                  <a:srgbClr val="FFFFFF"/>
                </a:highlight>
              </a:rPr>
              <a:t>аналіз предметної галузі та аналогів;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>
                <a:highlight>
                  <a:srgbClr val="FFFFFF"/>
                </a:highlight>
              </a:rPr>
              <a:t>формування вимог до системи;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>
                <a:highlight>
                  <a:srgbClr val="FFFFFF"/>
                </a:highlight>
              </a:rPr>
              <a:t>проєктування архітектури, </a:t>
            </a:r>
            <a:r>
              <a:rPr lang="en-US" dirty="0">
                <a:highlight>
                  <a:srgbClr val="FFFFFF"/>
                </a:highlight>
              </a:rPr>
              <a:t>UML-</a:t>
            </a:r>
            <a:r>
              <a:rPr lang="uk-UA" dirty="0">
                <a:highlight>
                  <a:srgbClr val="FFFFFF"/>
                </a:highlight>
              </a:rPr>
              <a:t>діаграм і бази даних;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>
                <a:highlight>
                  <a:srgbClr val="FFFFFF"/>
                </a:highlight>
              </a:rPr>
              <a:t>реалізація основного функціоналу;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>
                <a:highlight>
                  <a:srgbClr val="FFFFFF"/>
                </a:highlight>
              </a:rPr>
              <a:t>тестування ключових сценаріїв роботи.</a:t>
            </a:r>
          </a:p>
          <a:p>
            <a:pPr marL="114300" indent="0">
              <a:buNone/>
            </a:pPr>
            <a:endParaRPr lang="uk-UA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ru-RU" dirty="0" err="1">
                <a:highlight>
                  <a:srgbClr val="FFFFFF"/>
                </a:highlight>
              </a:rPr>
              <a:t>Очікуваний</a:t>
            </a:r>
            <a:r>
              <a:rPr lang="ru-RU" dirty="0">
                <a:highlight>
                  <a:srgbClr val="FFFFFF"/>
                </a:highlight>
              </a:rPr>
              <a:t> результат - система, </a:t>
            </a:r>
            <a:r>
              <a:rPr lang="ru-RU" dirty="0" err="1">
                <a:highlight>
                  <a:srgbClr val="FFFFFF"/>
                </a:highlight>
              </a:rPr>
              <a:t>що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централізує</a:t>
            </a:r>
            <a:r>
              <a:rPr lang="ru-RU" dirty="0">
                <a:highlight>
                  <a:srgbClr val="FFFFFF"/>
                </a:highlight>
              </a:rPr>
              <a:t> роботу з </a:t>
            </a:r>
            <a:r>
              <a:rPr lang="ru-RU" dirty="0" err="1">
                <a:highlight>
                  <a:srgbClr val="FFFFFF"/>
                </a:highlight>
              </a:rPr>
              <a:t>подіями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учасниками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сповіщеннями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звітами</a:t>
            </a:r>
            <a:r>
              <a:rPr lang="ru-RU" dirty="0">
                <a:highlight>
                  <a:srgbClr val="FFFFFF"/>
                </a:highlight>
              </a:rPr>
              <a:t> та </a:t>
            </a:r>
            <a:r>
              <a:rPr lang="ru-RU" dirty="0" err="1">
                <a:highlight>
                  <a:srgbClr val="FFFFFF"/>
                </a:highlight>
              </a:rPr>
              <a:t>аналітикою</a:t>
            </a:r>
            <a:r>
              <a:rPr lang="ru-RU" dirty="0">
                <a:highlight>
                  <a:srgbClr val="FFFFFF"/>
                </a:highlight>
              </a:rPr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Середовище розробки – </a:t>
            </a:r>
            <a:r>
              <a:rPr lang="en-US" dirty="0">
                <a:highlight>
                  <a:srgbClr val="FFFFFF"/>
                </a:highlight>
              </a:rPr>
              <a:t>Visual Studio Code</a:t>
            </a:r>
            <a:br>
              <a:rPr lang="en-US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Розробка інтерфейсу – </a:t>
            </a:r>
            <a:r>
              <a:rPr lang="en-US" dirty="0">
                <a:highlight>
                  <a:srgbClr val="FFFFFF"/>
                </a:highlight>
              </a:rPr>
              <a:t>React</a:t>
            </a:r>
            <a:br>
              <a:rPr lang="en-US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Типізація коду – </a:t>
            </a:r>
            <a:r>
              <a:rPr lang="en-US" dirty="0">
                <a:highlight>
                  <a:srgbClr val="FFFFFF"/>
                </a:highlight>
              </a:rPr>
              <a:t>TypeScript</a:t>
            </a:r>
            <a:br>
              <a:rPr lang="en-US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Серверна частина – </a:t>
            </a:r>
            <a:r>
              <a:rPr lang="en-US" dirty="0" err="1">
                <a:highlight>
                  <a:srgbClr val="FFFFFF"/>
                </a:highlight>
              </a:rPr>
              <a:t>NestJS</a:t>
            </a:r>
            <a:br>
              <a:rPr lang="en-US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Зберігання даних – </a:t>
            </a:r>
            <a:r>
              <a:rPr lang="en-US" dirty="0">
                <a:highlight>
                  <a:srgbClr val="FFFFFF"/>
                </a:highlight>
              </a:rPr>
              <a:t>PostgreSQL</a:t>
            </a:r>
          </a:p>
          <a:p>
            <a:pPr marL="114300" indent="0">
              <a:buNone/>
            </a:pPr>
            <a:endParaRPr lang="en-US" dirty="0">
              <a:highlight>
                <a:srgbClr val="FFFFFF"/>
              </a:highlight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3" name="Рисунок 2" descr="React — Википедия">
            <a:extLst>
              <a:ext uri="{FF2B5EF4-FFF2-40B4-BE49-F238E27FC236}">
                <a16:creationId xmlns:a16="http://schemas.microsoft.com/office/drawing/2014/main" id="{DF852515-CA42-69D8-BE24-E45187ABF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846" y="1688354"/>
            <a:ext cx="865633" cy="788279"/>
          </a:xfrm>
          <a:prstGeom prst="rect">
            <a:avLst/>
          </a:prstGeom>
        </p:spPr>
      </p:pic>
      <p:pic>
        <p:nvPicPr>
          <p:cNvPr id="4" name="Рисунок 3" descr="Иконки, логотипы, символы Typescript — Скачать в PNG и SVG бесплатно">
            <a:extLst>
              <a:ext uri="{FF2B5EF4-FFF2-40B4-BE49-F238E27FC236}">
                <a16:creationId xmlns:a16="http://schemas.microsoft.com/office/drawing/2014/main" id="{3361D16A-753B-BAF3-2D0D-8AF1231A1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815" y="2545174"/>
            <a:ext cx="865632" cy="865632"/>
          </a:xfrm>
          <a:prstGeom prst="rect">
            <a:avLst/>
          </a:prstGeom>
        </p:spPr>
      </p:pic>
      <p:pic>
        <p:nvPicPr>
          <p:cNvPr id="5" name="Рисунок 4" descr="NestJS — Википедия">
            <a:extLst>
              <a:ext uri="{FF2B5EF4-FFF2-40B4-BE49-F238E27FC236}">
                <a16:creationId xmlns:a16="http://schemas.microsoft.com/office/drawing/2014/main" id="{ED77E052-4981-9FE5-41E9-FF5E71291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443" y="2571750"/>
            <a:ext cx="865632" cy="839056"/>
          </a:xfrm>
          <a:prstGeom prst="rect">
            <a:avLst/>
          </a:prstGeom>
        </p:spPr>
      </p:pic>
      <p:pic>
        <p:nvPicPr>
          <p:cNvPr id="6" name="Рисунок 5" descr="PostgreSQL — Википедия">
            <a:extLst>
              <a:ext uri="{FF2B5EF4-FFF2-40B4-BE49-F238E27FC236}">
                <a16:creationId xmlns:a16="http://schemas.microsoft.com/office/drawing/2014/main" id="{78EB7115-8B21-0D25-D1F9-B924CCF9E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401" y="3790946"/>
            <a:ext cx="764078" cy="788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268925" y="1095615"/>
            <a:ext cx="3803203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ru-RU" dirty="0">
                <a:highlight>
                  <a:srgbClr val="FFFFFF"/>
                </a:highlight>
              </a:rPr>
              <a:t>Кл</a:t>
            </a:r>
            <a:r>
              <a:rPr lang="uk-UA" dirty="0" err="1">
                <a:highlight>
                  <a:srgbClr val="FFFFFF"/>
                </a:highlight>
              </a:rPr>
              <a:t>ієнт</a:t>
            </a:r>
            <a:r>
              <a:rPr lang="uk-UA" dirty="0">
                <a:highlight>
                  <a:srgbClr val="FFFFFF"/>
                </a:highlight>
              </a:rPr>
              <a:t>-серверна архітектура: </a:t>
            </a:r>
            <a:r>
              <a:rPr lang="en-US" dirty="0">
                <a:highlight>
                  <a:srgbClr val="FFFFFF"/>
                </a:highlight>
              </a:rPr>
              <a:t>React-</a:t>
            </a:r>
            <a:r>
              <a:rPr lang="uk-UA" dirty="0">
                <a:highlight>
                  <a:srgbClr val="FFFFFF"/>
                </a:highlight>
              </a:rPr>
              <a:t>клієнт взаємодіє з </a:t>
            </a:r>
            <a:r>
              <a:rPr lang="en-US" dirty="0">
                <a:highlight>
                  <a:srgbClr val="FFFFFF"/>
                </a:highlight>
              </a:rPr>
              <a:t>backend </a:t>
            </a:r>
            <a:r>
              <a:rPr lang="uk-UA" dirty="0">
                <a:highlight>
                  <a:srgbClr val="FFFFFF"/>
                </a:highlight>
              </a:rPr>
              <a:t>на </a:t>
            </a:r>
            <a:r>
              <a:rPr lang="en-US" dirty="0" err="1">
                <a:highlight>
                  <a:srgbClr val="FFFFFF"/>
                </a:highlight>
              </a:rPr>
              <a:t>NestJS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uk-UA" dirty="0">
                <a:highlight>
                  <a:srgbClr val="FFFFFF"/>
                </a:highlight>
              </a:rPr>
              <a:t>через </a:t>
            </a:r>
            <a:r>
              <a:rPr lang="en-US" dirty="0">
                <a:highlight>
                  <a:srgbClr val="FFFFFF"/>
                </a:highlight>
              </a:rPr>
              <a:t>REST API</a:t>
            </a:r>
            <a:r>
              <a:rPr lang="uk-UA" dirty="0">
                <a:highlight>
                  <a:srgbClr val="FFFFFF"/>
                </a:highlight>
              </a:rPr>
              <a:t> та </a:t>
            </a:r>
            <a:r>
              <a:rPr lang="en-US" dirty="0">
                <a:highlight>
                  <a:srgbClr val="FFFFFF"/>
                </a:highlight>
              </a:rPr>
              <a:t>WebSocket. </a:t>
            </a:r>
            <a:endParaRPr lang="uk-UA" dirty="0">
              <a:highlight>
                <a:srgbClr val="FFFFFF"/>
              </a:highlight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Дані: </a:t>
            </a:r>
            <a:r>
              <a:rPr lang="en-US" dirty="0">
                <a:highlight>
                  <a:srgbClr val="FFFFFF"/>
                </a:highlight>
              </a:rPr>
              <a:t>PostgreSQL</a:t>
            </a:r>
            <a:r>
              <a:rPr lang="uk-UA" dirty="0">
                <a:highlight>
                  <a:srgbClr val="FFFFFF"/>
                </a:highlight>
              </a:rPr>
              <a:t> + </a:t>
            </a:r>
            <a:r>
              <a:rPr lang="en-US" dirty="0">
                <a:highlight>
                  <a:srgbClr val="FFFFFF"/>
                </a:highlight>
              </a:rPr>
              <a:t>Prisma ORM</a:t>
            </a:r>
            <a:r>
              <a:rPr lang="ru-RU" dirty="0">
                <a:highlight>
                  <a:srgbClr val="FFFFFF"/>
                </a:highlight>
              </a:rPr>
              <a:t>. </a:t>
            </a:r>
            <a:r>
              <a:rPr lang="en-US" dirty="0">
                <a:highlight>
                  <a:srgbClr val="FFFFFF"/>
                </a:highlight>
              </a:rPr>
              <a:t>Email-</a:t>
            </a:r>
            <a:r>
              <a:rPr lang="uk-UA" dirty="0">
                <a:highlight>
                  <a:srgbClr val="FFFFFF"/>
                </a:highlight>
              </a:rPr>
              <a:t>сповіщення: </a:t>
            </a:r>
            <a:r>
              <a:rPr lang="en-US" dirty="0">
                <a:highlight>
                  <a:srgbClr val="FFFFFF"/>
                </a:highlight>
              </a:rPr>
              <a:t>SMTP. </a:t>
            </a:r>
            <a:r>
              <a:rPr lang="uk-UA" dirty="0">
                <a:highlight>
                  <a:srgbClr val="FFFFFF"/>
                </a:highlight>
              </a:rPr>
              <a:t>Фото звітів: файлова система сервера.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B95D75-C2DE-E47D-CE8B-9CE5C59D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2" y="774767"/>
            <a:ext cx="3861955" cy="4030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54475" y="11437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Архітектурний шар системи: </a:t>
            </a:r>
            <a:r>
              <a:rPr lang="en-US" dirty="0">
                <a:highlight>
                  <a:srgbClr val="FFFFFF"/>
                </a:highlight>
              </a:rPr>
              <a:t>React </a:t>
            </a:r>
            <a:r>
              <a:rPr lang="uk-UA" dirty="0">
                <a:highlight>
                  <a:srgbClr val="FFFFFF"/>
                </a:highlight>
              </a:rPr>
              <a:t>+ </a:t>
            </a:r>
            <a:r>
              <a:rPr lang="en-US" dirty="0">
                <a:highlight>
                  <a:srgbClr val="FFFFFF"/>
                </a:highlight>
              </a:rPr>
              <a:t>TypeScript, </a:t>
            </a:r>
            <a:r>
              <a:rPr lang="en-US" dirty="0" err="1">
                <a:highlight>
                  <a:srgbClr val="FFFFFF"/>
                </a:highlight>
              </a:rPr>
              <a:t>NestJS</a:t>
            </a:r>
            <a:r>
              <a:rPr lang="en-US" dirty="0">
                <a:highlight>
                  <a:srgbClr val="FFFFFF"/>
                </a:highlight>
              </a:rPr>
              <a:t>, PostgreSQL.</a:t>
            </a:r>
            <a:endParaRPr lang="uk-UA" dirty="0">
              <a:highlight>
                <a:srgbClr val="FFFFFF"/>
              </a:highlight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 err="1">
                <a:highlight>
                  <a:srgbClr val="FFFFFF"/>
                </a:highlight>
              </a:rPr>
              <a:t>Патерни</a:t>
            </a:r>
            <a:r>
              <a:rPr lang="uk-UA" dirty="0">
                <a:highlight>
                  <a:srgbClr val="FFFFFF"/>
                </a:highlight>
              </a:rPr>
              <a:t>: </a:t>
            </a:r>
            <a:r>
              <a:rPr lang="en-US" dirty="0">
                <a:highlight>
                  <a:srgbClr val="FFFFFF"/>
                </a:highlight>
              </a:rPr>
              <a:t>Repository, Dependency Injection, DTO</a:t>
            </a:r>
            <a:endParaRPr lang="uk-UA" dirty="0">
              <a:highlight>
                <a:srgbClr val="FFFFFF"/>
              </a:highlight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en-US" dirty="0">
                <a:highlight>
                  <a:srgbClr val="FFFFFF"/>
                </a:highlight>
              </a:rPr>
              <a:t>ORM: Prisma </a:t>
            </a:r>
            <a:endParaRPr lang="uk-UA" dirty="0">
              <a:highlight>
                <a:srgbClr val="FFFFFF"/>
              </a:highlight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ru-RU" dirty="0" err="1">
                <a:highlight>
                  <a:srgbClr val="FFFFFF"/>
                </a:highlight>
              </a:rPr>
              <a:t>Основні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етапи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розробки</a:t>
            </a:r>
            <a:r>
              <a:rPr lang="ru-RU" dirty="0">
                <a:highlight>
                  <a:srgbClr val="FFFFFF"/>
                </a:highlight>
              </a:rPr>
              <a:t>: </a:t>
            </a:r>
            <a:r>
              <a:rPr lang="ru-RU" dirty="0" err="1">
                <a:highlight>
                  <a:srgbClr val="FFFFFF"/>
                </a:highlight>
              </a:rPr>
              <a:t>вимоги</a:t>
            </a:r>
            <a:r>
              <a:rPr lang="ru-RU" dirty="0">
                <a:highlight>
                  <a:srgbClr val="FFFFFF"/>
                </a:highlight>
              </a:rPr>
              <a:t>, структура </a:t>
            </a:r>
            <a:r>
              <a:rPr lang="ru-RU" dirty="0" err="1">
                <a:highlight>
                  <a:srgbClr val="FFFFFF"/>
                </a:highlight>
              </a:rPr>
              <a:t>даних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серверна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логіка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інтерфейс</a:t>
            </a:r>
            <a:r>
              <a:rPr lang="ru-RU" dirty="0">
                <a:highlight>
                  <a:srgbClr val="FFFFFF"/>
                </a:highlight>
              </a:rPr>
              <a:t> </a:t>
            </a:r>
            <a:r>
              <a:rPr lang="ru-RU" dirty="0" err="1">
                <a:highlight>
                  <a:srgbClr val="FFFFFF"/>
                </a:highlight>
              </a:rPr>
              <a:t>користувача</a:t>
            </a:r>
            <a:r>
              <a:rPr lang="ru-RU" dirty="0">
                <a:highlight>
                  <a:srgbClr val="FFFFFF"/>
                </a:highlight>
              </a:rPr>
              <a:t>, </a:t>
            </a:r>
            <a:r>
              <a:rPr lang="ru-RU" dirty="0" err="1">
                <a:highlight>
                  <a:srgbClr val="FFFFFF"/>
                </a:highlight>
              </a:rPr>
              <a:t>тестування</a:t>
            </a:r>
            <a:r>
              <a:rPr lang="ru-RU" dirty="0">
                <a:highlight>
                  <a:srgbClr val="FFFFFF"/>
                </a:highlight>
              </a:rPr>
              <a:t>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119230"/>
            <a:ext cx="8520600" cy="2843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uk-UA" dirty="0"/>
              <a:t>Дизайн системи розроблено від основних сценаріїв адміністратора та співробітника.</a:t>
            </a:r>
          </a:p>
          <a:p>
            <a:pPr marL="0" lvl="0" indent="0">
              <a:buNone/>
            </a:pPr>
            <a:endParaRPr lang="uk-UA" dirty="0"/>
          </a:p>
          <a:p>
            <a:pPr marL="0" lvl="0" indent="0">
              <a:buNone/>
            </a:pP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розбито</a:t>
            </a:r>
            <a:r>
              <a:rPr lang="ru-RU" dirty="0"/>
              <a:t> на </a:t>
            </a:r>
            <a:r>
              <a:rPr lang="ru-RU" dirty="0" err="1"/>
              <a:t>компоненти</a:t>
            </a:r>
            <a:r>
              <a:rPr lang="ru-RU" dirty="0"/>
              <a:t>: </a:t>
            </a:r>
            <a:r>
              <a:rPr lang="ru-RU" dirty="0" err="1"/>
              <a:t>картки</a:t>
            </a:r>
            <a:r>
              <a:rPr lang="ru-RU" dirty="0"/>
              <a:t> </a:t>
            </a:r>
            <a:r>
              <a:rPr lang="ru-RU" dirty="0" err="1"/>
              <a:t>заходів</a:t>
            </a:r>
            <a:r>
              <a:rPr lang="ru-RU" dirty="0"/>
              <a:t>, </a:t>
            </a:r>
            <a:r>
              <a:rPr lang="ru-RU" dirty="0" err="1"/>
              <a:t>форми</a:t>
            </a:r>
            <a:r>
              <a:rPr lang="ru-RU" dirty="0"/>
              <a:t>, списки, </a:t>
            </a:r>
            <a:r>
              <a:rPr lang="ru-RU" dirty="0" err="1"/>
              <a:t>сповіщення</a:t>
            </a:r>
            <a:r>
              <a:rPr lang="ru-RU" dirty="0"/>
              <a:t>, </a:t>
            </a:r>
            <a:r>
              <a:rPr lang="ru-RU" dirty="0" err="1"/>
              <a:t>звіти</a:t>
            </a:r>
            <a:r>
              <a:rPr lang="ru-RU" dirty="0"/>
              <a:t>.</a:t>
            </a:r>
          </a:p>
          <a:p>
            <a:pPr marL="0" lvl="0" indent="0">
              <a:buNone/>
            </a:pPr>
            <a:endParaRPr lang="ru-RU" dirty="0"/>
          </a:p>
          <a:p>
            <a:pPr marL="0" lvl="0" indent="0">
              <a:buNone/>
            </a:pPr>
            <a:r>
              <a:rPr lang="ru-RU" dirty="0" err="1"/>
              <a:t>Реалізація</a:t>
            </a:r>
            <a:r>
              <a:rPr lang="ru-RU" dirty="0"/>
              <a:t>: </a:t>
            </a:r>
            <a:r>
              <a:rPr lang="ru-RU" dirty="0" err="1"/>
              <a:t>React</a:t>
            </a:r>
            <a:r>
              <a:rPr lang="ru-RU" dirty="0"/>
              <a:t> + </a:t>
            </a:r>
            <a:r>
              <a:rPr lang="ru-RU" dirty="0" err="1"/>
              <a:t>TypeScript</a:t>
            </a:r>
            <a:r>
              <a:rPr lang="ru-RU" dirty="0"/>
              <a:t> – </a:t>
            </a:r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1AAAD6F-C14B-D3D1-0238-FCCF0C6C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61"/>
          <a:stretch>
            <a:fillRect/>
          </a:stretch>
        </p:blipFill>
        <p:spPr>
          <a:xfrm>
            <a:off x="429732" y="636052"/>
            <a:ext cx="4068045" cy="3871396"/>
          </a:xfrm>
          <a:prstGeom prst="rect">
            <a:avLst/>
          </a:prstGeom>
        </p:spPr>
      </p:pic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185C52D-4621-C63C-26B0-380FDC1C3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652" y="547410"/>
            <a:ext cx="3743431" cy="4212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94FDEA-6D17-4F30-804E-54DAA4BE81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405" t="7395" r="19222" b="5399"/>
          <a:stretch>
            <a:fillRect/>
          </a:stretch>
        </p:blipFill>
        <p:spPr bwMode="auto">
          <a:xfrm>
            <a:off x="268925" y="815002"/>
            <a:ext cx="3469698" cy="26779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DFFEE9-FA7E-61C8-A8A4-10658A857F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36"/>
          <a:stretch>
            <a:fillRect/>
          </a:stretch>
        </p:blipFill>
        <p:spPr>
          <a:xfrm>
            <a:off x="4161000" y="815002"/>
            <a:ext cx="4617240" cy="2677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EC7BF2-BB55-5F1D-5B76-F17054DD1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875" y="1894273"/>
            <a:ext cx="2634992" cy="30198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graphicFrame>
        <p:nvGraphicFramePr>
          <p:cNvPr id="6" name="Таблиця 5">
            <a:extLst>
              <a:ext uri="{FF2B5EF4-FFF2-40B4-BE49-F238E27FC236}">
                <a16:creationId xmlns:a16="http://schemas.microsoft.com/office/drawing/2014/main" id="{79ED457D-3986-DAF5-E282-6266C4311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299820"/>
              </p:ext>
            </p:extLst>
          </p:nvPr>
        </p:nvGraphicFramePr>
        <p:xfrm>
          <a:off x="410951" y="687680"/>
          <a:ext cx="8509315" cy="3522500"/>
        </p:xfrm>
        <a:graphic>
          <a:graphicData uri="http://schemas.openxmlformats.org/drawingml/2006/table">
            <a:tbl>
              <a:tblPr/>
              <a:tblGrid>
                <a:gridCol w="479398">
                  <a:extLst>
                    <a:ext uri="{9D8B030D-6E8A-4147-A177-3AD203B41FA5}">
                      <a16:colId xmlns:a16="http://schemas.microsoft.com/office/drawing/2014/main" val="2794876378"/>
                    </a:ext>
                  </a:extLst>
                </a:gridCol>
                <a:gridCol w="2756539">
                  <a:extLst>
                    <a:ext uri="{9D8B030D-6E8A-4147-A177-3AD203B41FA5}">
                      <a16:colId xmlns:a16="http://schemas.microsoft.com/office/drawing/2014/main" val="3218110475"/>
                    </a:ext>
                  </a:extLst>
                </a:gridCol>
                <a:gridCol w="3595485">
                  <a:extLst>
                    <a:ext uri="{9D8B030D-6E8A-4147-A177-3AD203B41FA5}">
                      <a16:colId xmlns:a16="http://schemas.microsoft.com/office/drawing/2014/main" val="1986778288"/>
                    </a:ext>
                  </a:extLst>
                </a:gridCol>
                <a:gridCol w="1677893">
                  <a:extLst>
                    <a:ext uri="{9D8B030D-6E8A-4147-A177-3AD203B41FA5}">
                      <a16:colId xmlns:a16="http://schemas.microsoft.com/office/drawing/2014/main" val="1215905505"/>
                    </a:ext>
                  </a:extLst>
                </a:gridCol>
              </a:tblGrid>
              <a:tr h="22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№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Сценарій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Очікуваний результат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Результат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772408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Авторизація адміністратора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Перенаправлено до адмін-панелі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46438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Авторизація співробітника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Перенаправлено до каталогу заходів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277866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Створення заходу адміністратором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Захід зʼявляється у списку, сповіщення надіслано усім користувачам системи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68191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Реєстрація на захід (є місця)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Користувач зареєстрований, кнопка «Зареєструватися» замінюється на «Скасувати участь», лічильник оновився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171505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Повторна реєстрація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Повторна реєстрація недоступна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55481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Публікація звіту + відгук після завершення події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Звіт збережено; відгук залишено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48278"/>
                  </a:ext>
                </a:extLst>
              </a:tr>
              <a:tr h="4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Перегляд аналітики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Відображається статистика заходів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Пройдено</a:t>
                      </a:r>
                    </a:p>
                  </a:txBody>
                  <a:tcPr marL="13042" marR="13042" marT="13042" marB="13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48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57640" y="1243307"/>
            <a:ext cx="8520600" cy="24220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Проведено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предметної</a:t>
            </a:r>
            <a:r>
              <a:rPr lang="ru-RU" dirty="0"/>
              <a:t> </a:t>
            </a:r>
            <a:r>
              <a:rPr lang="ru-RU" dirty="0" err="1"/>
              <a:t>галузі</a:t>
            </a:r>
            <a:r>
              <a:rPr lang="ru-RU" dirty="0"/>
              <a:t> та </a:t>
            </a:r>
            <a:r>
              <a:rPr lang="ru-RU" dirty="0" err="1"/>
              <a:t>аналогів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dirty="0"/>
              <a:t>Сформовано </a:t>
            </a:r>
            <a:r>
              <a:rPr lang="ru-RU" dirty="0" err="1"/>
              <a:t>вимоги</a:t>
            </a:r>
            <a:r>
              <a:rPr lang="ru-RU" dirty="0"/>
              <a:t> й постановку </a:t>
            </a:r>
            <a:r>
              <a:rPr lang="ru-RU" dirty="0" err="1"/>
              <a:t>задачі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dirty="0" err="1"/>
              <a:t>Спроєктовано</a:t>
            </a:r>
            <a:r>
              <a:rPr lang="ru-RU" dirty="0"/>
              <a:t> </a:t>
            </a:r>
            <a:r>
              <a:rPr lang="ru-RU" dirty="0" err="1"/>
              <a:t>архітектуру</a:t>
            </a:r>
            <a:r>
              <a:rPr lang="ru-RU" dirty="0"/>
              <a:t>, UML-</a:t>
            </a:r>
            <a:r>
              <a:rPr lang="ru-RU" dirty="0" err="1"/>
              <a:t>діаграми</a:t>
            </a:r>
            <a:r>
              <a:rPr lang="ru-RU" dirty="0"/>
              <a:t> та базу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dirty="0" err="1"/>
              <a:t>Реалізовано</a:t>
            </a:r>
            <a:r>
              <a:rPr lang="ru-RU" dirty="0"/>
              <a:t> й протестовано систему для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корпоративними</a:t>
            </a:r>
            <a:r>
              <a:rPr lang="ru-RU" dirty="0"/>
              <a:t> заходами.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dirty="0" err="1"/>
              <a:t>Подальший</a:t>
            </a:r>
            <a:r>
              <a:rPr lang="ru-RU" dirty="0"/>
              <a:t> </a:t>
            </a:r>
            <a:r>
              <a:rPr lang="ru-RU" dirty="0" err="1"/>
              <a:t>розвиток</a:t>
            </a:r>
            <a:r>
              <a:rPr lang="ru-RU" dirty="0"/>
              <a:t>: </a:t>
            </a:r>
            <a:r>
              <a:rPr lang="ru-RU" dirty="0" err="1"/>
              <a:t>мобільна</a:t>
            </a:r>
            <a:r>
              <a:rPr lang="ru-RU" dirty="0"/>
              <a:t> </a:t>
            </a:r>
            <a:r>
              <a:rPr lang="ru-RU" dirty="0" err="1"/>
              <a:t>адаптація</a:t>
            </a:r>
            <a:r>
              <a:rPr lang="ru-RU" dirty="0"/>
              <a:t>, </a:t>
            </a:r>
            <a:r>
              <a:rPr lang="ru-RU" dirty="0" err="1"/>
              <a:t>файлове</a:t>
            </a:r>
            <a:r>
              <a:rPr lang="ru-RU" dirty="0"/>
              <a:t> </a:t>
            </a:r>
            <a:r>
              <a:rPr lang="ru-RU" dirty="0" err="1"/>
              <a:t>сховище</a:t>
            </a:r>
            <a:r>
              <a:rPr lang="ru-RU" dirty="0"/>
              <a:t>, </a:t>
            </a:r>
            <a:r>
              <a:rPr lang="ru-RU" dirty="0" err="1"/>
              <a:t>інтеграція</a:t>
            </a:r>
            <a:r>
              <a:rPr lang="ru-RU" dirty="0"/>
              <a:t> з календарями.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1997</TotalTime>
  <Words>484</Words>
  <Application>Microsoft Office PowerPoint</Application>
  <PresentationFormat>Екран (16:9)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Open Sans</vt:lpstr>
      <vt:lpstr>Economica</vt:lpstr>
      <vt:lpstr>Arial</vt:lpstr>
      <vt:lpstr>Шаблон презентації кваліфікаційної роботи магістрів</vt:lpstr>
      <vt:lpstr>Інформаційна система управління внутрішніми корпоративними заходами підприємства 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Дар'я Курінна</dc:creator>
  <cp:lastModifiedBy>Дар'я Курінна</cp:lastModifiedBy>
  <cp:revision>7</cp:revision>
  <dcterms:created xsi:type="dcterms:W3CDTF">2026-06-02T13:09:20Z</dcterms:created>
  <dcterms:modified xsi:type="dcterms:W3CDTF">2026-06-05T18:17:13Z</dcterms:modified>
</cp:coreProperties>
</file>